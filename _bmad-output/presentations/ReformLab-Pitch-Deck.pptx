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03" d="100"/>
          <a:sy n="103" d="100"/>
        </p:scale>
        <p:origin x="200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56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ReformLab lets you see the distributional impact of environmental reforms before they're enacted.</a:t>
            </a:r>
          </a:p>
          <a:p>
            <a:endParaRPr/>
          </a:p>
          <a:p>
            <a:r>
              <a:t>Emotional beat: Curiosity — 'What is this and why should I care?'</a:t>
            </a:r>
          </a:p>
          <a:p>
            <a:endParaRPr/>
          </a:p>
          <a:p>
            <a:r>
              <a:t>Transition: 'Let me show you what environmental reforms actually look like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Environmental reforms aren't abstract — they touch every household's budget through energy costs, transport, housing, and redistribution.</a:t>
            </a:r>
          </a:p>
          <a:p>
            <a:endParaRPr/>
          </a:p>
          <a:p>
            <a:r>
              <a:t>Emotional beat: 'Oh, these are real policies affecting real people.'</a:t>
            </a:r>
          </a:p>
          <a:p>
            <a:endParaRPr/>
          </a:p>
          <a:p>
            <a:r>
              <a:t>Transition: 'So who actually needs answers to these questions?'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We serve three distinct audiences with different workflows but the same fundamental need — understanding who is affected by environmental reforms.</a:t>
            </a:r>
          </a:p>
          <a:p>
            <a:endParaRPr/>
          </a:p>
          <a:p>
            <a:r>
              <a:t>Emotional beat: 'That's me / that's my team.'</a:t>
            </a:r>
          </a:p>
          <a:p>
            <a:endParaRPr/>
          </a:p>
          <a:p>
            <a:r>
              <a:t>Transition: 'Let's look at what these people actually face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Walk through each step — data, simulation, projection, analysis, documentation. Every single one is manual, fragile, and rebuilt from scratch.</a:t>
            </a:r>
          </a:p>
          <a:p>
            <a:endParaRPr/>
          </a:p>
          <a:p>
            <a:r>
              <a:t>Emotional beat: Pain — 'Yes, this is exactly what we deal with.'</a:t>
            </a:r>
          </a:p>
          <a:p>
            <a:endParaRPr/>
          </a:p>
          <a:p>
            <a:r>
              <a:t>Transition: 'You might ask — isn't there already a tool that does this?'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Walk through the table — tax-benefit tools handle income rules but not environment; energy tools handle physics but not distribution; scripts are fragile. Nobody covers all six rows.</a:t>
            </a:r>
          </a:p>
          <a:p>
            <a:endParaRPr/>
          </a:p>
          <a:p>
            <a:r>
              <a:t>Emotional beat: Frustration — 'Right, nothing solves this properly.'</a:t>
            </a:r>
          </a:p>
          <a:p>
            <a:endParaRPr/>
          </a:p>
          <a:p>
            <a:r>
              <a:t>Transition: 'That's exactly what ReformLab is built to solve.'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Walk through the four steps — configure, simulate, analyze, trust. Emphasize that the whole workflow is visual, no coding required.</a:t>
            </a:r>
          </a:p>
          <a:p>
            <a:endParaRPr/>
          </a:p>
          <a:p>
            <a:r>
              <a:t>Emotional beat: Relief — 'Wait, this does everything in one place?'</a:t>
            </a:r>
          </a:p>
          <a:p>
            <a:endParaRPr/>
          </a:p>
          <a:p>
            <a:r>
              <a:t>Transition: 'Let me show you specifically what makes this different from anything else out there.'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Five differentiators — lead with no-code because that's the headline for this audience. Templates save months of work. Multi-year projection is unique. Transparency is built-in, not an afterthought.</a:t>
            </a:r>
          </a:p>
          <a:p>
            <a:endParaRPr/>
          </a:p>
          <a:p>
            <a:r>
              <a:t>Emotional beat: Conviction — 'Okay, this is genuinely different.'</a:t>
            </a:r>
          </a:p>
          <a:p>
            <a:endParaRPr/>
          </a:p>
          <a:p>
            <a:r>
              <a:t>Transition: 'Let me show you what this looks like for each of our three audiences.'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The policy analyst's before/after story. Today it's a fragile chain of tools rebuilt every quarter. With ReformLab, configure once, run instantly, and answer follow-up questions in minutes, not hours.</a:t>
            </a:r>
          </a:p>
          <a:p>
            <a:endParaRPr/>
          </a:p>
          <a:p>
            <a:r>
              <a:t>Emotional beat: Recognition — 'I see myself using this.'</a:t>
            </a:r>
          </a:p>
          <a:p>
            <a:endParaRPr/>
          </a:p>
          <a:p>
            <a:r>
              <a:t>Transition: 'Now let's see what this means for researchers.'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Researchers get full programmatic control via the Python API and Jupyter notebooks. Every run produces an immutable manifest. Reproducibility is built in, not bolted on.</a:t>
            </a:r>
          </a:p>
          <a:p>
            <a:endParaRPr/>
          </a:p>
          <a:p>
            <a:r>
              <a:t>Emotional beat: Trust — 'This solves my reproducibility problem.'</a:t>
            </a:r>
          </a:p>
          <a:p>
            <a:endParaRPr/>
          </a:p>
          <a:p>
            <a:r>
              <a:t>Transition: 'And for the broader public...'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A public web app built on ReformLab lets citizens enter their household profile and compare reform proposals side by side. They see personal impact and the big picture.</a:t>
            </a:r>
          </a:p>
          <a:p>
            <a:endParaRPr/>
          </a:p>
          <a:p>
            <a:r>
              <a:t>Emotional beat: Inspiration — 'This could change how people understand policy.'</a:t>
            </a:r>
          </a:p>
          <a:p>
            <a:endParaRPr/>
          </a:p>
          <a:p>
            <a:r>
              <a:t>Transition: 'You might be wondering — who else is doing this?'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Walk through the positioning map. Tax-benefit tools are bottom-left (static, code-only, income-focused). Energy tools are bottom-right (environmental but no distribution). Legacy tools are being retired. ReformLab is alone in the top-right: environmental, distributional, dynamic, and no-code.</a:t>
            </a:r>
          </a:p>
          <a:p>
            <a:endParaRPr/>
          </a:p>
          <a:p>
            <a:r>
              <a:t>Emotional beat: Confidence — 'No one else is doing this.'</a:t>
            </a:r>
          </a:p>
          <a:p>
            <a:endParaRPr/>
          </a:p>
          <a:p>
            <a:r>
              <a:t>Transition: 'And the timing couldn't be better.'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Three forces converging: urgent policy demand, dying legacy tools, and mature technology. This window won't stay open forever.</a:t>
            </a:r>
          </a:p>
          <a:p>
            <a:endParaRPr/>
          </a:p>
          <a:p>
            <a:r>
              <a:t>Emotional beat: Urgency — 'The timing is right.'</a:t>
            </a:r>
          </a:p>
          <a:p>
            <a:endParaRPr/>
          </a:p>
          <a:p>
            <a:r>
              <a:t>Transition: 'Ready to see it in action?'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point: Recap the four key value props — open source, offline, open data, fast to start. The audience should leave thinking 'I want to try this.'</a:t>
            </a:r>
          </a:p>
          <a:p>
            <a:endParaRPr/>
          </a:p>
          <a:p>
            <a:r>
              <a:t>Emotional beat: Action — 'I want to try this.'</a:t>
            </a:r>
          </a:p>
          <a:p>
            <a:endParaRPr/>
          </a:p>
          <a:p>
            <a:r>
              <a:t>Close with: 'Thank you. I'm happy to answer questions or show you a live demo.'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0F172A"/>
                </a:solidFill>
                <a:latin typeface="Calibri"/>
              </a:rPr>
              <a:t>ReformLab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1">
                <a:solidFill>
                  <a:srgbClr val="3B82F6"/>
                </a:solidFill>
                <a:latin typeface="Calibri"/>
              </a:rPr>
              <a:t>See the impact before the vote.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64748B"/>
                </a:solidFill>
                <a:latin typeface="Calibri"/>
              </a:rPr>
              <a:t>Simulate environmental reforms. Understand who wins, who loses.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64748B"/>
                </a:solidFill>
                <a:latin typeface="Calibri"/>
              </a:rPr>
              <a:t>Trust the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5212080"/>
            <a:ext cx="457200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51960" y="5394960"/>
            <a:ext cx="457200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0" y="5120640"/>
            <a:ext cx="457200" cy="8229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40680" y="5486400"/>
            <a:ext cx="457200" cy="457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0" y="5303520"/>
            <a:ext cx="457200" cy="6400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51663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5029200"/>
            <a:ext cx="4572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03920" y="5303520"/>
            <a:ext cx="4572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98280" y="5166360"/>
            <a:ext cx="4572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5394960"/>
            <a:ext cx="4572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287000" y="5577840"/>
            <a:ext cx="4572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59893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Current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9893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After reform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Governments are transforming how we live, move, and consume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2327" y="1554480"/>
            <a:ext cx="5029200" cy="1645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2327" y="1554480"/>
            <a:ext cx="73152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647" y="178308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3B82F6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167" y="17373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Energy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8167" y="224028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Carbon taxes, energy tariffs,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fuel levies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7" y="1554480"/>
            <a:ext cx="5029200" cy="1645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70167" y="1554480"/>
            <a:ext cx="73152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4487" y="178308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8B5CF6"/>
                </a:solidFill>
                <a:latin typeface="Calibr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6007" y="17373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24028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Emission standards, low-emission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zones, mobility subsidies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327" y="3566160"/>
            <a:ext cx="5029200" cy="1645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2327" y="356616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6647" y="37947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10B981"/>
                </a:solidFill>
                <a:latin typeface="Calibri"/>
              </a:rPr>
              <a:t>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8167" y="3749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Housing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8167" y="425196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Renovation incentives, heating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regulations, efficiency mandates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167" y="3566160"/>
            <a:ext cx="5029200" cy="1645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70167" y="356616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4487" y="37947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F59E0B"/>
                </a:solidFill>
                <a:latin typeface="Calibri"/>
              </a:rP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6007" y="3749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Redistribution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4251960"/>
            <a:ext cx="3657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Green dividends, targeted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rebates, compensation schemes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Who pays, who benefits, and by how much?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Three groups need rigorous, fast environmental policy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5167" y="155448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5167" y="155448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5167" y="1737360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3B82F6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23317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Policy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487" y="274320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Government, consulting, think tank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2367" y="3200400"/>
            <a:ext cx="2468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9487" y="333756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Assess reforms before enactment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047" y="3886200"/>
            <a:ext cx="3017520" cy="64008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5207" y="39319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alibri"/>
              </a:rPr>
              <a:t>Weeks of manual work per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047" y="4709160"/>
            <a:ext cx="3017520" cy="64008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5207" y="47548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Fast, reproducible, briefing-ready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4207" y="155448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04207" y="155448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4207" y="1737360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8B5CF6"/>
                </a:solidFill>
                <a:latin typeface="Calibri"/>
              </a:rP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527" y="23317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8527" y="274320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University or research institute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1407" y="3200400"/>
            <a:ext cx="2468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8527" y="333756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Project effects on real populations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7087" y="3886200"/>
            <a:ext cx="3017520" cy="64008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24247" y="39319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alibri"/>
              </a:rPr>
              <a:t>Custom throwaway code for each paper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87087" y="4709160"/>
            <a:ext cx="3017520" cy="64008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4247" y="47548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Clean, reproducible projections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3247" y="1554480"/>
            <a:ext cx="338328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53247" y="155448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3247" y="1737360"/>
            <a:ext cx="3383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10B981"/>
                </a:solidFill>
                <a:latin typeface="Calibri"/>
              </a:rP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7567" y="23317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Engaged Citizen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567" y="274320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Voter, activist, journalist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10447" y="3200400"/>
            <a:ext cx="2468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27567" y="333756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Understand how reforms affect them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6127" y="3886200"/>
            <a:ext cx="3017520" cy="64008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73287" y="39319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alibri"/>
              </a:rPr>
              <a:t>Abstract numbers, no personal relevance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6127" y="4709160"/>
            <a:ext cx="3017520" cy="64008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73287" y="47548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0B981"/>
                </a:solidFill>
                <a:latin typeface="Calibri"/>
              </a:rPr>
              <a:t>"Show me what this means for me"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Every environmental policy assessment starts from scratch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71600" y="1664208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66420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4155"/>
                </a:solidFill>
                <a:latin typeface="Consolas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9344" y="2167128"/>
            <a:ext cx="27432" cy="137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600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64748B"/>
                </a:solidFill>
                <a:latin typeface="Calibri"/>
              </a:rP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00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Find and prepare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3852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Scattered sources, incompatible formats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2532888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53288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4155"/>
                </a:solidFill>
                <a:latin typeface="Consola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9344" y="3035808"/>
            <a:ext cx="27432" cy="137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3120" y="2468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64748B"/>
                </a:solidFill>
                <a:latin typeface="Calibri"/>
              </a:rP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Build the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0720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Custom scripts rebuilt every time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3401568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40156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4155"/>
                </a:solidFill>
                <a:latin typeface="Consola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9344" y="3904488"/>
            <a:ext cx="27432" cy="137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03120" y="333756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64748B"/>
                </a:solidFill>
                <a:latin typeface="Calibri"/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37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Run projections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7588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Manual year-by-year looping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4270248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427024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4155"/>
                </a:solidFill>
                <a:latin typeface="Consola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9344" y="4773168"/>
            <a:ext cx="27432" cy="137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03120" y="4206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64748B"/>
                </a:solidFill>
                <a:latin typeface="Calibri"/>
              </a:rPr>
              <a:t>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062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Compute winners and losers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54456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Custom analysis code each time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5138928"/>
            <a:ext cx="502920" cy="50292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513892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334155"/>
                </a:solidFill>
                <a:latin typeface="Consola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0749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64748B"/>
                </a:solidFill>
                <a:latin typeface="Calibri"/>
              </a:rPr>
              <a:t>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749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Document methodology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413248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Usually skipped entirely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1645920"/>
            <a:ext cx="4389120" cy="32004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0" y="19202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EF4444"/>
                </a:solidFill>
                <a:latin typeface="Calibri"/>
              </a:rPr>
              <a:t>Result: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46888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✗  Weeks of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92608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✗  Fragile pipelines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38328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✗  Undocumented assumptions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840480"/>
            <a:ext cx="3657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✗  No reproducibility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1">
                <a:solidFill>
                  <a:srgbClr val="EF4444"/>
                </a:solidFill>
                <a:latin typeface="Calibri"/>
              </a:rPr>
              <a:t>"What about low-income rural households?" — You start 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No existing tool covers the full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3200400" cy="640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508760"/>
            <a:ext cx="29260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34155"/>
                </a:solidFill>
                <a:latin typeface="Calibri"/>
              </a:rP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2286000" cy="640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50876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34155"/>
                </a:solidFill>
                <a:latin typeface="Calibri"/>
              </a:rPr>
              <a:t>Tax-benefit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34155"/>
                </a:solidFill>
                <a:latin typeface="Calibri"/>
              </a:rPr>
              <a:t>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2286000" cy="640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50876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34155"/>
                </a:solidFill>
                <a:latin typeface="Calibri"/>
              </a:rPr>
              <a:t>Energy/building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34155"/>
                </a:solidFill>
                <a:latin typeface="Calibri"/>
              </a:rPr>
              <a:t>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463040"/>
            <a:ext cx="2286000" cy="640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1508760"/>
            <a:ext cx="20116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34155"/>
                </a:solidFill>
                <a:latin typeface="Calibri"/>
              </a:rPr>
              <a:t>Ad-hoc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34155"/>
                </a:solidFill>
                <a:latin typeface="Calibri"/>
              </a:rPr>
              <a:t>scripts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10312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121408"/>
            <a:ext cx="29260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Cross-domain (income 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energy + transport)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12140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10312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12140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103120"/>
            <a:ext cx="228600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212140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59E0B"/>
                </a:solidFill>
                <a:latin typeface="Consolas"/>
              </a:rPr>
              <a:t>Fragile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269748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2715768"/>
            <a:ext cx="29260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Multi-year projections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69748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71576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69748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271576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697480"/>
            <a:ext cx="228600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271576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59E0B"/>
                </a:solidFill>
                <a:latin typeface="Consolas"/>
              </a:rPr>
              <a:t>Manual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29184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40" y="3310128"/>
            <a:ext cx="29260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Distributional impact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(who wins / loses)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291840"/>
            <a:ext cx="228600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331012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59E0B"/>
                </a:solidFill>
                <a:latin typeface="Consolas"/>
              </a:rPr>
              <a:t>Partial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331012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291840"/>
            <a:ext cx="228600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06840" y="331012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59E0B"/>
                </a:solidFill>
                <a:latin typeface="Consolas"/>
              </a:rPr>
              <a:t>Manual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388620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34440" y="3904488"/>
            <a:ext cx="29260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Built-in reproducibility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88620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34840" y="390448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88620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390448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388620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06840" y="390448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448056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34440" y="4498848"/>
            <a:ext cx="29260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No-code access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80" y="448056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0" y="449884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48056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20840" y="449884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448056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06840" y="449884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" y="5074920"/>
            <a:ext cx="3200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34440" y="5093208"/>
            <a:ext cx="29260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Environmental policy focus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97680" y="507492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34840" y="509320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5074920"/>
            <a:ext cx="22860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20840" y="509320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onsolas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5074920"/>
            <a:ext cx="228600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06840" y="5093208"/>
            <a:ext cx="2011680" cy="5577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59E0B"/>
                </a:solidFill>
                <a:latin typeface="Consolas"/>
              </a:rPr>
              <a:t>Rebuilt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59E0B"/>
                </a:solidFill>
                <a:latin typeface="Consolas"/>
              </a:rPr>
              <a:t>each 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There is no integrated platform for environmental reform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End-to-end environmental policy assessment — no code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3787" y="1645920"/>
            <a:ext cx="2286000" cy="2560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43787" y="164592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0947" y="1828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787" y="21488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3B82F6"/>
                </a:solidFill>
                <a:latin typeface="Calibri"/>
              </a:rPr>
              <a:t>⚙️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6667" y="274320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6667" y="324612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Pick a template. Adjust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parameters. Set timeline.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5507" y="265176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49827" y="1645920"/>
            <a:ext cx="2286000" cy="2560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49827" y="1645920"/>
            <a:ext cx="2286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86987" y="1828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827" y="21488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8B5CF6"/>
                </a:solidFill>
                <a:latin typeface="Calibri"/>
              </a:rPr>
              <a:t>▶️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2707" y="274320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Simulate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2707" y="324612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Run against a population.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Multi-year projections.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547" y="265176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1645920"/>
            <a:ext cx="2286000" cy="2560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55867" y="1645920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3027" y="1828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21488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10B981"/>
                </a:solidFill>
                <a:latin typeface="Calibr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747" y="274320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47" y="324612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Distributional impact.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Winners and losers.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7587" y="265176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1907" y="1645920"/>
            <a:ext cx="2286000" cy="2560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61907" y="164592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99067" y="1828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onsola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1907" y="214884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0" i="0">
                <a:solidFill>
                  <a:srgbClr val="F59E0B"/>
                </a:solidFill>
                <a:latin typeface="Calibri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4787" y="2743200"/>
            <a:ext cx="1920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4787" y="324612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Every assumption logged.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Fully reproducible.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64748B"/>
                </a:solidFill>
                <a:latin typeface="Calibri"/>
              </a:rPr>
              <a:t>Configure a reform, run it against a population, see who wins and who loses.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5303520"/>
            <a:ext cx="7315200" cy="10972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86000" y="5303520"/>
            <a:ext cx="731520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68880" y="53218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onsolas"/>
              </a:rPr>
              <a:t>● ● ●   ReformLab — Scenario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6035040"/>
            <a:ext cx="36576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0" y="5897880"/>
            <a:ext cx="3657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0" y="5806440"/>
            <a:ext cx="3657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0" y="6035040"/>
            <a:ext cx="36576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12080" y="5897880"/>
            <a:ext cx="36576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669280" y="5806440"/>
            <a:ext cx="36576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766560" y="6035040"/>
            <a:ext cx="3657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223760" y="5897880"/>
            <a:ext cx="3657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80960" y="5806440"/>
            <a:ext cx="3657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What makes ReformLab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058400" cy="77724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3B82F6"/>
                </a:solidFill>
                <a:latin typeface="Calibri"/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2763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No-code, end-to-end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27632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From policy definition to distributional charts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without writing a single line of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14600"/>
            <a:ext cx="100584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8B5CF6"/>
                </a:solidFill>
                <a:latin typeface="Calibri"/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8775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Environmental policy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87752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Pre-built templates for carbon taxes, subsidies,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transport policies. Configure, don't rebuild.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100584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347472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56616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0B981"/>
                </a:solidFill>
                <a:latin typeface="Calibri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4787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Dynamic multi-year projection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47872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See impacts evolve over 10+ years as fleets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turn over and policies phase 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34840"/>
            <a:ext cx="100584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443484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52628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F59E0B"/>
                </a:solidFill>
                <a:latin typeface="Calibr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0799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Assumption transparency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507992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Every parameter and data source is logged.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Full reproducibility without extra effort.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394960"/>
            <a:ext cx="1005840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5394960"/>
            <a:ext cx="54864" cy="7772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486400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64748B"/>
                </a:solidFill>
                <a:latin typeface="Calibr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68112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Open-data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68112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Works out of the box with public data.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Bring your own when you have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8229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54864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1">
                <a:solidFill>
                  <a:srgbClr val="334155"/>
                </a:solidFill>
                <a:latin typeface="Calibri"/>
              </a:rPr>
              <a:t>“I modified one parameter and got updated charts instantly.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1">
                <a:solidFill>
                  <a:srgbClr val="334155"/>
                </a:solidFill>
                <a:latin typeface="Calibri"/>
              </a:rPr>
              <a:t>This used to take me weeks.”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10047" cy="47548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Chain three tools per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Rebuild pipelines each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Manual methodology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Hours to answer follow-ups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389120"/>
            <a:ext cx="1280160" cy="548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</a:rPr>
              <a:t>Tool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4805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389120"/>
            <a:ext cx="1280160" cy="548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44805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</a:rPr>
              <a:t>Tool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44805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EF4444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389120"/>
            <a:ext cx="1280160" cy="548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44805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</a:rPr>
              <a:t>Tool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F4444"/>
                </a:solidFill>
                <a:latin typeface="Calibri"/>
              </a:rPr>
              <a:t>⚠️  Fragile chain, breaks often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1463040"/>
            <a:ext cx="5410047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7327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WITH REFORMLAB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Configure reform in the GUI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269748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Run against built-in 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8767" y="320040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Distributional charts instantly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8767" y="370332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Re-run with alternatives in minutes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64527" y="4389120"/>
            <a:ext cx="3657600" cy="12801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64527" y="44348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ReformLab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0287" y="5029200"/>
            <a:ext cx="45720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53247" y="4919472"/>
            <a:ext cx="45720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76207" y="5084064"/>
            <a:ext cx="457200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99167" y="4974336"/>
            <a:ext cx="4572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8229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54864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1">
                <a:solidFill>
                  <a:srgbClr val="334155"/>
                </a:solidFill>
                <a:latin typeface="Calibri"/>
              </a:rPr>
              <a:t>“I projected my results onto a reproducible simulation —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1">
                <a:solidFill>
                  <a:srgbClr val="334155"/>
                </a:solidFill>
                <a:latin typeface="Calibri"/>
              </a:rPr>
              <a:t>my co-author replicated them on a different machine.”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10047" cy="47548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4A3B8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800 lines of custom code per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Results impossible to 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Co-authors can't run your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✗  Replication packages are incomplete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480560"/>
            <a:ext cx="4572000" cy="11887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# simulation_v3_final_FINAL.py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for year in range(2025, 2035):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    pop = load(f'data_{year}.csv')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40096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    # TODO: fix this hack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463040"/>
            <a:ext cx="5410047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327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8B5CF6"/>
                </a:solidFill>
                <a:latin typeface="Calibri"/>
              </a:rPr>
              <a:t>WITH REFORMLAB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Python API + Jupyter notebooks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269748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Multi-year projections built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320040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Immutable manifest per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3703320"/>
            <a:ext cx="46785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✓  Reproducibility by default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8767" y="4480560"/>
            <a:ext cx="4572000" cy="11887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81647" y="452628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8B5CF6"/>
                </a:solidFill>
                <a:latin typeface="Consolas"/>
              </a:rPr>
              <a:t>📓  ReformLab 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647" y="4828032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Consolas"/>
              </a:rPr>
              <a:t>reform = CarbonTax(rate=44, start=2026)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647" y="5084064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Consolas"/>
              </a:rPr>
              <a:t>results = simulate(reform, years=10)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647" y="5340096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334155"/>
                </a:solidFill>
                <a:latin typeface="Consolas"/>
              </a:rPr>
              <a:t>results.distributional_impact()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1094415" cy="640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0" i="1">
                <a:solidFill>
                  <a:srgbClr val="334155"/>
                </a:solidFill>
                <a:latin typeface="Calibri"/>
              </a:rPr>
              <a:t>“I finally understand who wins and who loses.”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05840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onsolas"/>
              </a:rPr>
              <a:t>● ● ●   ReformLab — Compare Reform Proposals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828800"/>
            <a:ext cx="45720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828800"/>
            <a:ext cx="4572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01168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Proposal A: Carbon Tax + Green Dividend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Your household pays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4320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Consolas"/>
              </a:rPr>
              <a:t>+€340/year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154680"/>
            <a:ext cx="40233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Green dividend received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747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onsolas"/>
              </a:rPr>
              <a:t>−€420/year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886200"/>
            <a:ext cx="40233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Net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0624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onsolas"/>
              </a:rPr>
              <a:t>−€80/year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89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Impact by income quintile: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75488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40280" y="4892040"/>
            <a:ext cx="4572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17520" y="5029200"/>
            <a:ext cx="45720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794760" y="5074920"/>
            <a:ext cx="4572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5120640"/>
            <a:ext cx="4572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</a:rPr>
              <a:t>Q1        Q2        Q3        Q4        Q5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828800"/>
            <a:ext cx="45720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1828800"/>
            <a:ext cx="4572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01168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Proposal B: Fuel Levy + Mobility Subsidy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7432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Your household pays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74320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59E0B"/>
                </a:solidFill>
                <a:latin typeface="Consolas"/>
              </a:rPr>
              <a:t>+€280/year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154680"/>
            <a:ext cx="40233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47472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Mobility subsidy received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47472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B981"/>
                </a:solidFill>
                <a:latin typeface="Consolas"/>
              </a:rPr>
              <a:t>−€150/year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886200"/>
            <a:ext cx="40233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206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Net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20624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F4444"/>
                </a:solidFill>
                <a:latin typeface="Consolas"/>
              </a:rPr>
              <a:t>+€130/year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389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Impact by income quintile: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937760"/>
            <a:ext cx="4572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60920" y="4983480"/>
            <a:ext cx="4572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38160" y="5029200"/>
            <a:ext cx="45720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915400" y="4937760"/>
            <a:ext cx="45720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692640" y="4846320"/>
            <a:ext cx="4572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5257800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</a:rPr>
              <a:t>Q1        Q2        Q3        Q4        Q5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1">
                <a:solidFill>
                  <a:srgbClr val="64748B"/>
                </a:solidFill>
                <a:latin typeface="Calibri"/>
              </a:rPr>
              <a:t>Before elections: compare candidates' platforms. Before a vote: understand the real impact.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The field is clearing — and no one occupies this 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43400" y="1645920"/>
            <a:ext cx="342900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4290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34290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3931920"/>
            <a:ext cx="342900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3918204"/>
            <a:ext cx="685800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29684" y="1645920"/>
            <a:ext cx="27432" cy="457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309360"/>
            <a:ext cx="3429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← Tax-benefit focused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6309360"/>
            <a:ext cx="3429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Environmental focused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325880"/>
            <a:ext cx="3429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Dynamic / No-code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3429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Static / Code-only ↓</a:t>
            </a:r>
          </a:p>
        </p:txBody>
      </p:sp>
      <p:sp>
        <p:nvSpPr>
          <p:cNvPr id="14" name="Oval 13"/>
          <p:cNvSpPr/>
          <p:nvPr/>
        </p:nvSpPr>
        <p:spPr>
          <a:xfrm>
            <a:off x="1691640" y="516636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51663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OpenFisca</a:t>
            </a:r>
          </a:p>
        </p:txBody>
      </p:sp>
      <p:sp>
        <p:nvSpPr>
          <p:cNvPr id="16" name="Oval 15"/>
          <p:cNvSpPr/>
          <p:nvPr/>
        </p:nvSpPr>
        <p:spPr>
          <a:xfrm>
            <a:off x="2423160" y="470916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4709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EUROMOD</a:t>
            </a:r>
          </a:p>
        </p:txBody>
      </p:sp>
      <p:sp>
        <p:nvSpPr>
          <p:cNvPr id="18" name="Oval 17"/>
          <p:cNvSpPr/>
          <p:nvPr/>
        </p:nvSpPr>
        <p:spPr>
          <a:xfrm>
            <a:off x="2148840" y="333756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33375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PolicyEngine</a:t>
            </a:r>
          </a:p>
        </p:txBody>
      </p:sp>
      <p:sp>
        <p:nvSpPr>
          <p:cNvPr id="20" name="Oval 19"/>
          <p:cNvSpPr/>
          <p:nvPr/>
        </p:nvSpPr>
        <p:spPr>
          <a:xfrm>
            <a:off x="5120640" y="489204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48920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ResStock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544068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54406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demod</a:t>
            </a:r>
          </a:p>
        </p:txBody>
      </p:sp>
      <p:sp>
        <p:nvSpPr>
          <p:cNvPr id="24" name="Oval 23"/>
          <p:cNvSpPr/>
          <p:nvPr/>
        </p:nvSpPr>
        <p:spPr>
          <a:xfrm>
            <a:off x="3063240" y="4069080"/>
            <a:ext cx="274320" cy="2743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40690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LIAM2 †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0" y="233172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23774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3B82F6"/>
                </a:solidFill>
                <a:latin typeface="Calibri"/>
              </a:rPr>
              <a:t>ReformLab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554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34155"/>
                </a:solidFill>
                <a:latin typeface="Calibri"/>
              </a:rPr>
              <a:t>Key: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OpenFisca, EUROMOD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488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Strong on income/tax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514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PolicyEngine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43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Public-facing tax-benefit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08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ResStock, demod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Physical models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033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LIAM2, OpenM++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31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Discontinued / archived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766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Environmental + distributional + dynamic + no-code: no one else occupies this space.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7223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† Discontinued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Three forces converging right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047" y="1737360"/>
            <a:ext cx="32004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8047" y="173736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047" y="210312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0" i="0">
                <a:solidFill>
                  <a:srgbClr val="3B82F6"/>
                </a:solidFill>
                <a:latin typeface="Calibri"/>
              </a:rP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367" y="29260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The Policy Moment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3566160"/>
            <a:ext cx="26517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EU Green Deal, carbon border adjustment,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national carbon taxes. Governments need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assessment tools faster than ever.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47" y="1737360"/>
            <a:ext cx="32004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95647" y="1737360"/>
            <a:ext cx="3200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5647" y="210312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0" i="0">
                <a:solidFill>
                  <a:srgbClr val="8B5CF6"/>
                </a:solidFill>
                <a:latin typeface="Calibri"/>
              </a:rPr>
              <a:t>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29260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The Tool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9967" y="3566160"/>
            <a:ext cx="26517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LIAM2 discontinued. OpenM++ archived.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No replacement serves the environmental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policy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1737360"/>
            <a:ext cx="32004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53247" y="173736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3247" y="210312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0" i="0">
                <a:solidFill>
                  <a:srgbClr val="10B981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7567" y="29260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The Technology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7567" y="3566160"/>
            <a:ext cx="26517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Mature open-source engines, powerful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scientific Python stack, AI-assisted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64748B"/>
                </a:solidFill>
                <a:latin typeface="Calibri"/>
              </a:rPr>
              <a:t>development. Buildable now.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0F172A"/>
                </a:solidFill>
                <a:latin typeface="Calibri"/>
              </a:rPr>
              <a:t>ReformLab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1">
                <a:solidFill>
                  <a:srgbClr val="3B82F6"/>
                </a:solidFill>
                <a:latin typeface="Calibri"/>
              </a:rPr>
              <a:t>See the impact before the vote.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2367" y="3840480"/>
            <a:ext cx="2286000" cy="14630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2367" y="39776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3B82F6"/>
                </a:solidFill>
                <a:latin typeface="Calibri"/>
              </a:rPr>
              <a:t>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44348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Open-source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No vendor lock-in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3840480"/>
            <a:ext cx="2286000" cy="14630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2687" y="39776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3B82F6"/>
                </a:solidFill>
                <a:latin typeface="Calibri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5567" y="44348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Works offline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No cloud dependency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840480"/>
            <a:ext cx="2286000" cy="14630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3007" y="39776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3B82F6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44348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Open-data default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Functional out of the box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3327" y="3840480"/>
            <a:ext cx="2286000" cy="14630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93327" y="397764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0" i="0">
                <a:solidFill>
                  <a:srgbClr val="3B82F6"/>
                </a:solidFill>
                <a:latin typeface="Calibri"/>
              </a:rP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6207" y="443484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30 minutes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334155"/>
                </a:solidFill>
                <a:latin typeface="Calibri"/>
              </a:rPr>
              <a:t>Install to first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66928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3B82F6"/>
                </a:solidFill>
                <a:latin typeface="Calibri"/>
              </a:rPr>
              <a:t>Let's talk — reformlab.org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1764</Words>
  <Application>Microsoft Macintosh PowerPoint</Application>
  <PresentationFormat>Widescreen</PresentationFormat>
  <Paragraphs>333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Vivier</cp:lastModifiedBy>
  <cp:revision>1</cp:revision>
  <dcterms:created xsi:type="dcterms:W3CDTF">2013-01-27T09:14:16Z</dcterms:created>
  <dcterms:modified xsi:type="dcterms:W3CDTF">2026-02-25T17:06:55Z</dcterms:modified>
  <cp:category/>
</cp:coreProperties>
</file>